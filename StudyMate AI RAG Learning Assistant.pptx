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ileron" pitchFamily="2" charset="0"/>
      <p:regular r:id="rId14"/>
    </p:embeddedFont>
    <p:embeddedFont>
      <p:font typeface="Aileron Bold" pitchFamily="2" charset="0"/>
      <p:regular r:id="rId15"/>
    </p:embeddedFont>
    <p:embeddedFont>
      <p:font typeface="Alegreya Sans SC" pitchFamily="2" charset="0"/>
      <p:regular r:id="rId16"/>
    </p:embeddedFont>
    <p:embeddedFont>
      <p:font typeface="Alegreya Sans SC Bold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4.fntdata" /><Relationship Id="rId2" Type="http://schemas.openxmlformats.org/officeDocument/2006/relationships/slide" Target="slides/slide1.xml" /><Relationship Id="rId16" Type="http://schemas.openxmlformats.org/officeDocument/2006/relationships/font" Target="fonts/font3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2.fntdata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1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1955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70980" y="2189426"/>
            <a:ext cx="13968571" cy="106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65"/>
              </a:lnSpc>
            </a:pPr>
            <a:r>
              <a:rPr lang="en-US" sz="6696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StudyMate 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1127" y="4226110"/>
            <a:ext cx="10541909" cy="2282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56"/>
              </a:lnSpc>
            </a:pPr>
            <a:r>
              <a:rPr lang="en-US" sz="8277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Smart Learning Assistant </a:t>
            </a:r>
          </a:p>
        </p:txBody>
      </p:sp>
      <p:sp>
        <p:nvSpPr>
          <p:cNvPr id="8" name="Freeform 8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10214" y="3365141"/>
            <a:ext cx="12376386" cy="5138605"/>
            <a:chOff x="0" y="0"/>
            <a:chExt cx="3259624" cy="13533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330103" y="1653310"/>
            <a:ext cx="9627794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554"/>
              </a:lnSpc>
            </a:pPr>
            <a:r>
              <a:rPr lang="en-US" sz="7994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39950" y="3885431"/>
            <a:ext cx="11716914" cy="401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123" lvl="1" indent="-280061" algn="just">
              <a:lnSpc>
                <a:spcPts val="3995"/>
              </a:lnSpc>
              <a:buFont typeface="Arial"/>
              <a:buChar char="•"/>
            </a:pPr>
            <a:r>
              <a:rPr lang="en-US" sz="2594" b="1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Students deal with large volumes of unstructured notes and study materials</a:t>
            </a:r>
          </a:p>
          <a:p>
            <a:pPr marL="560123" lvl="1" indent="-280061" algn="just">
              <a:lnSpc>
                <a:spcPts val="3995"/>
              </a:lnSpc>
              <a:buFont typeface="Arial"/>
              <a:buChar char="•"/>
            </a:pPr>
            <a:r>
              <a:rPr lang="en-US" sz="2594" b="1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Difficult to quickly find relevant information from notes</a:t>
            </a:r>
          </a:p>
          <a:p>
            <a:pPr marL="560123" lvl="1" indent="-280061" algn="just">
              <a:lnSpc>
                <a:spcPts val="3995"/>
              </a:lnSpc>
              <a:buFont typeface="Arial"/>
              <a:buChar char="•"/>
            </a:pPr>
            <a:r>
              <a:rPr lang="en-US" sz="2594" b="1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Traditional learning methods lack interactive doubt-solving support</a:t>
            </a:r>
          </a:p>
          <a:p>
            <a:pPr marL="560123" lvl="1" indent="-280061" algn="just">
              <a:lnSpc>
                <a:spcPts val="3995"/>
              </a:lnSpc>
              <a:buFont typeface="Arial"/>
              <a:buChar char="•"/>
            </a:pPr>
            <a:r>
              <a:rPr lang="en-US" sz="2594" b="1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Manual revision and quiz preparation require significant time and effort</a:t>
            </a:r>
          </a:p>
          <a:p>
            <a:pPr marL="560123" lvl="1" indent="-280061" algn="just">
              <a:lnSpc>
                <a:spcPts val="3995"/>
              </a:lnSpc>
              <a:buFont typeface="Arial"/>
              <a:buChar char="•"/>
            </a:pPr>
            <a:r>
              <a:rPr lang="en-US" sz="2594" b="1">
                <a:solidFill>
                  <a:srgbClr val="3C3F42"/>
                </a:solidFill>
                <a:latin typeface="Aileron Bold"/>
                <a:ea typeface="Aileron Bold"/>
                <a:cs typeface="Aileron Bold"/>
                <a:sym typeface="Aileron Bold"/>
              </a:rPr>
              <a:t>Existing systems do not provide personalized or context-aware learning assistance</a:t>
            </a:r>
          </a:p>
          <a:p>
            <a:pPr marL="0" lvl="0" indent="0" algn="just">
              <a:lnSpc>
                <a:spcPts val="3995"/>
              </a:lnSpc>
            </a:pPr>
            <a:endParaRPr lang="en-US" sz="2594" b="1">
              <a:solidFill>
                <a:srgbClr val="3C3F42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629741" y="3194621"/>
            <a:ext cx="13028518" cy="2466279"/>
            <a:chOff x="0" y="0"/>
            <a:chExt cx="3431379" cy="6495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31379" cy="649555"/>
            </a:xfrm>
            <a:custGeom>
              <a:avLst/>
              <a:gdLst/>
              <a:ahLst/>
              <a:cxnLst/>
              <a:rect l="l" t="t" r="r" b="b"/>
              <a:pathLst>
                <a:path w="3431379" h="649555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78428" y="1509864"/>
            <a:ext cx="8531143" cy="1284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54"/>
              </a:lnSpc>
            </a:pPr>
            <a:r>
              <a:rPr lang="en-US" sz="7994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10832" y="3427445"/>
            <a:ext cx="10066336" cy="199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86"/>
              </a:lnSpc>
            </a:pPr>
            <a:r>
              <a:rPr lang="en-US" sz="349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Build an intelligent learning assistant that enables answering questions directly from user-uploaded notes with accurate, context-aware responses.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629741" y="6060950"/>
            <a:ext cx="13028518" cy="2466279"/>
            <a:chOff x="0" y="0"/>
            <a:chExt cx="3431379" cy="6495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31379" cy="649555"/>
            </a:xfrm>
            <a:custGeom>
              <a:avLst/>
              <a:gdLst/>
              <a:ahLst/>
              <a:cxnLst/>
              <a:rect l="l" t="t" r="r" b="b"/>
              <a:pathLst>
                <a:path w="3431379" h="649555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619249"/>
                  </a:lnTo>
                  <a:cubicBezTo>
                    <a:pt x="3431379" y="627287"/>
                    <a:pt x="3428186" y="634995"/>
                    <a:pt x="3422503" y="640679"/>
                  </a:cubicBezTo>
                  <a:cubicBezTo>
                    <a:pt x="3416820" y="646362"/>
                    <a:pt x="3409111" y="649555"/>
                    <a:pt x="3401074" y="649555"/>
                  </a:cubicBezTo>
                  <a:lnTo>
                    <a:pt x="30306" y="649555"/>
                  </a:lnTo>
                  <a:cubicBezTo>
                    <a:pt x="22268" y="649555"/>
                    <a:pt x="14560" y="646362"/>
                    <a:pt x="8876" y="640679"/>
                  </a:cubicBezTo>
                  <a:cubicBezTo>
                    <a:pt x="3193" y="634995"/>
                    <a:pt x="0" y="627287"/>
                    <a:pt x="0" y="619249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431379" cy="68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85368" y="6240942"/>
            <a:ext cx="10066336" cy="199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86"/>
              </a:lnSpc>
            </a:pPr>
            <a:r>
              <a:rPr lang="en-US" sz="349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Automate quiz generation (MCQs) and provide clear, multi-level explanations to enhance student learning efficiency and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566407" y="2794376"/>
            <a:ext cx="12349949" cy="6463924"/>
            <a:chOff x="0" y="0"/>
            <a:chExt cx="3252662" cy="17024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52662" cy="1702433"/>
            </a:xfrm>
            <a:custGeom>
              <a:avLst/>
              <a:gdLst/>
              <a:ahLst/>
              <a:cxnLst/>
              <a:rect l="l" t="t" r="r" b="b"/>
              <a:pathLst>
                <a:path w="3252662" h="1702433">
                  <a:moveTo>
                    <a:pt x="31971" y="0"/>
                  </a:moveTo>
                  <a:lnTo>
                    <a:pt x="3220691" y="0"/>
                  </a:lnTo>
                  <a:cubicBezTo>
                    <a:pt x="3229170" y="0"/>
                    <a:pt x="3237302" y="3368"/>
                    <a:pt x="3243298" y="9364"/>
                  </a:cubicBezTo>
                  <a:cubicBezTo>
                    <a:pt x="3249293" y="15360"/>
                    <a:pt x="3252662" y="23492"/>
                    <a:pt x="3252662" y="31971"/>
                  </a:cubicBezTo>
                  <a:lnTo>
                    <a:pt x="3252662" y="1670462"/>
                  </a:lnTo>
                  <a:cubicBezTo>
                    <a:pt x="3252662" y="1678941"/>
                    <a:pt x="3249293" y="1687073"/>
                    <a:pt x="3243298" y="1693069"/>
                  </a:cubicBezTo>
                  <a:cubicBezTo>
                    <a:pt x="3237302" y="1699064"/>
                    <a:pt x="3229170" y="1702433"/>
                    <a:pt x="3220691" y="1702433"/>
                  </a:cubicBezTo>
                  <a:lnTo>
                    <a:pt x="31971" y="1702433"/>
                  </a:lnTo>
                  <a:cubicBezTo>
                    <a:pt x="23492" y="1702433"/>
                    <a:pt x="15360" y="1699064"/>
                    <a:pt x="9364" y="1693069"/>
                  </a:cubicBezTo>
                  <a:cubicBezTo>
                    <a:pt x="3368" y="1687073"/>
                    <a:pt x="0" y="1678941"/>
                    <a:pt x="0" y="1670462"/>
                  </a:cubicBezTo>
                  <a:lnTo>
                    <a:pt x="0" y="31971"/>
                  </a:lnTo>
                  <a:cubicBezTo>
                    <a:pt x="0" y="23492"/>
                    <a:pt x="3368" y="15360"/>
                    <a:pt x="9364" y="9364"/>
                  </a:cubicBezTo>
                  <a:cubicBezTo>
                    <a:pt x="15360" y="3368"/>
                    <a:pt x="23492" y="0"/>
                    <a:pt x="31971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252662" cy="1740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78428" y="1509864"/>
            <a:ext cx="8531143" cy="1284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54"/>
              </a:lnSpc>
            </a:pPr>
            <a:r>
              <a:rPr lang="en-US" sz="7994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System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93932" y="3354517"/>
            <a:ext cx="9894900" cy="5705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StudyMate AI is an AI-based learning assistant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Allows users to upload notes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Extracts and processes text from notes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Converts text into embeddings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Stores data in FAISS vector database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Retrieves relevant content for user queries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Uses LLM to generate answers</a:t>
            </a:r>
          </a:p>
          <a:p>
            <a:pPr marL="712470" lvl="1" indent="-356235" algn="l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Generates quizzes and explanations</a:t>
            </a:r>
          </a:p>
          <a:p>
            <a:pPr marL="0" lvl="0" indent="0" algn="l">
              <a:lnSpc>
                <a:spcPts val="5082"/>
              </a:lnSpc>
            </a:pPr>
            <a:endParaRPr lang="en-US" sz="3300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10214" y="3365141"/>
            <a:ext cx="12376386" cy="5138605"/>
            <a:chOff x="0" y="0"/>
            <a:chExt cx="3259624" cy="13533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575515" y="1783254"/>
            <a:ext cx="9213868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061"/>
              </a:lnSpc>
            </a:pPr>
            <a:r>
              <a:rPr lang="en-US" sz="7533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System Architecture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30586" y="4178907"/>
            <a:ext cx="11135643" cy="340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382" lvl="1" indent="-318691" algn="just">
              <a:lnSpc>
                <a:spcPts val="4546"/>
              </a:lnSpc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Frontend provides user interface for upload, chat, and quiz</a:t>
            </a:r>
          </a:p>
          <a:p>
            <a:pPr marL="637382" lvl="1" indent="-318691" algn="just">
              <a:lnSpc>
                <a:spcPts val="4546"/>
              </a:lnSpc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Backend (FastAPI) handles all processing and API requests</a:t>
            </a:r>
          </a:p>
          <a:p>
            <a:pPr marL="637382" lvl="1" indent="-318691" algn="just">
              <a:lnSpc>
                <a:spcPts val="4546"/>
              </a:lnSpc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SQLite database stores notes, chats, and quiz data</a:t>
            </a:r>
          </a:p>
          <a:p>
            <a:pPr marL="637382" lvl="1" indent="-318691" algn="just">
              <a:lnSpc>
                <a:spcPts val="4546"/>
              </a:lnSpc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FAISS stores embeddings for semantic search</a:t>
            </a:r>
          </a:p>
          <a:p>
            <a:pPr marL="637382" lvl="1" indent="-318691" algn="just">
              <a:lnSpc>
                <a:spcPts val="4546"/>
              </a:lnSpc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LLM generates answers based on retrieved content</a:t>
            </a:r>
          </a:p>
          <a:p>
            <a:pPr marL="0" lvl="0" indent="0" algn="just">
              <a:lnSpc>
                <a:spcPts val="4546"/>
              </a:lnSpc>
            </a:pPr>
            <a:endParaRPr lang="en-US" sz="2952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10214" y="3365141"/>
            <a:ext cx="12376386" cy="5138605"/>
            <a:chOff x="0" y="0"/>
            <a:chExt cx="3259624" cy="13533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203724" y="2109412"/>
            <a:ext cx="9281107" cy="75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65"/>
              </a:lnSpc>
            </a:pPr>
            <a:r>
              <a:rPr lang="en-US" sz="4733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Data Processing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77515" y="4166549"/>
            <a:ext cx="11383702" cy="3460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185" lvl="1" indent="-321593" algn="just">
              <a:lnSpc>
                <a:spcPts val="4587"/>
              </a:lnSpc>
              <a:buFont typeface="Arial"/>
              <a:buChar char="•"/>
            </a:pPr>
            <a:r>
              <a:rPr lang="en-US" sz="297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Extract text from PDF, DOCX, and TXT files</a:t>
            </a:r>
          </a:p>
          <a:p>
            <a:pPr marL="643185" lvl="1" indent="-321593" algn="just">
              <a:lnSpc>
                <a:spcPts val="4587"/>
              </a:lnSpc>
              <a:buFont typeface="Arial"/>
              <a:buChar char="•"/>
            </a:pPr>
            <a:r>
              <a:rPr lang="en-US" sz="297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Split text into smaller chunks</a:t>
            </a:r>
          </a:p>
          <a:p>
            <a:pPr marL="643185" lvl="1" indent="-321593" algn="just">
              <a:lnSpc>
                <a:spcPts val="4587"/>
              </a:lnSpc>
              <a:buFont typeface="Arial"/>
              <a:buChar char="•"/>
            </a:pPr>
            <a:r>
              <a:rPr lang="en-US" sz="297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 overlap to maintain context</a:t>
            </a:r>
          </a:p>
          <a:p>
            <a:pPr marL="643185" lvl="1" indent="-321593" algn="just">
              <a:lnSpc>
                <a:spcPts val="4587"/>
              </a:lnSpc>
              <a:buFont typeface="Arial"/>
              <a:buChar char="•"/>
            </a:pPr>
            <a:r>
              <a:rPr lang="en-US" sz="297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Convert chunks into embeddings</a:t>
            </a:r>
          </a:p>
          <a:p>
            <a:pPr marL="643185" lvl="1" indent="-321593" algn="just">
              <a:lnSpc>
                <a:spcPts val="4587"/>
              </a:lnSpc>
              <a:buFont typeface="Arial"/>
              <a:buChar char="•"/>
            </a:pPr>
            <a:r>
              <a:rPr lang="en-US" sz="297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Prepare data for retrieval</a:t>
            </a:r>
          </a:p>
          <a:p>
            <a:pPr marL="0" lvl="0" indent="0" algn="just">
              <a:lnSpc>
                <a:spcPts val="4587"/>
              </a:lnSpc>
            </a:pPr>
            <a:endParaRPr lang="en-US" sz="2979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10214" y="3365141"/>
            <a:ext cx="12376386" cy="5138605"/>
            <a:chOff x="0" y="0"/>
            <a:chExt cx="3259624" cy="13533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883873" y="2143599"/>
            <a:ext cx="9281107" cy="75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65"/>
              </a:lnSpc>
            </a:pPr>
            <a:r>
              <a:rPr lang="en-US" sz="4733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Vector search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50957" y="4425977"/>
            <a:ext cx="9894900" cy="3002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Stores embeddings of text chunks</a:t>
            </a:r>
          </a:p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Performs similarity search</a:t>
            </a:r>
          </a:p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Retrieves most relevant content</a:t>
            </a:r>
          </a:p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Enables semantic search instead of keyword search</a:t>
            </a:r>
          </a:p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Improves answer accuracy</a:t>
            </a:r>
          </a:p>
          <a:p>
            <a:pPr marL="0" lvl="0" indent="0" algn="just">
              <a:lnSpc>
                <a:spcPts val="3987"/>
              </a:lnSpc>
            </a:pPr>
            <a:endParaRPr lang="en-US" sz="2589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110214" y="3365141"/>
            <a:ext cx="12376386" cy="5138605"/>
            <a:chOff x="0" y="0"/>
            <a:chExt cx="3259624" cy="13533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59624" cy="1353377"/>
            </a:xfrm>
            <a:custGeom>
              <a:avLst/>
              <a:gdLst/>
              <a:ahLst/>
              <a:cxnLst/>
              <a:rect l="l" t="t" r="r" b="b"/>
              <a:pathLst>
                <a:path w="3259624" h="1353377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321475"/>
                  </a:lnTo>
                  <a:cubicBezTo>
                    <a:pt x="3259624" y="1329936"/>
                    <a:pt x="3256263" y="1338051"/>
                    <a:pt x="3250280" y="1344033"/>
                  </a:cubicBezTo>
                  <a:cubicBezTo>
                    <a:pt x="3244297" y="1350016"/>
                    <a:pt x="3236183" y="1353377"/>
                    <a:pt x="3227722" y="1353377"/>
                  </a:cubicBezTo>
                  <a:lnTo>
                    <a:pt x="31903" y="1353377"/>
                  </a:lnTo>
                  <a:cubicBezTo>
                    <a:pt x="23441" y="1353377"/>
                    <a:pt x="15327" y="1350016"/>
                    <a:pt x="9344" y="1344033"/>
                  </a:cubicBezTo>
                  <a:cubicBezTo>
                    <a:pt x="3361" y="1338051"/>
                    <a:pt x="0" y="1329936"/>
                    <a:pt x="0" y="1321475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259624" cy="1391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119042" y="2290234"/>
            <a:ext cx="9281107" cy="75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65"/>
              </a:lnSpc>
            </a:pPr>
            <a:r>
              <a:rPr lang="en-US" sz="4733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LLM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50957" y="4425977"/>
            <a:ext cx="9894900" cy="3002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Uses LLM to generate responses</a:t>
            </a:r>
          </a:p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Takes retrieved content as input</a:t>
            </a:r>
          </a:p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Provides context-based answers</a:t>
            </a:r>
          </a:p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Supports different response types</a:t>
            </a:r>
          </a:p>
          <a:p>
            <a:pPr marL="559067" lvl="1" indent="-279534" algn="just">
              <a:lnSpc>
                <a:spcPts val="3987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Improves learning experience</a:t>
            </a:r>
          </a:p>
          <a:p>
            <a:pPr marL="0" lvl="0" indent="0" algn="just">
              <a:lnSpc>
                <a:spcPts val="3987"/>
              </a:lnSpc>
            </a:pPr>
            <a:endParaRPr lang="en-US" sz="2589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47513" y="2715939"/>
            <a:ext cx="11213075" cy="7064237"/>
          </a:xfrm>
          <a:custGeom>
            <a:avLst/>
            <a:gdLst/>
            <a:ahLst/>
            <a:cxnLst/>
            <a:rect l="l" t="t" r="r" b="b"/>
            <a:pathLst>
              <a:path w="11213075" h="7064237">
                <a:moveTo>
                  <a:pt x="0" y="0"/>
                </a:moveTo>
                <a:lnTo>
                  <a:pt x="11213075" y="0"/>
                </a:lnTo>
                <a:lnTo>
                  <a:pt x="11213075" y="7064237"/>
                </a:lnTo>
                <a:lnTo>
                  <a:pt x="0" y="70642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741549"/>
            <a:ext cx="9281107" cy="75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65"/>
              </a:lnSpc>
            </a:pPr>
            <a:r>
              <a:rPr lang="en-US" sz="4733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26868" y="2533569"/>
            <a:ext cx="12234265" cy="7019409"/>
          </a:xfrm>
          <a:custGeom>
            <a:avLst/>
            <a:gdLst/>
            <a:ahLst/>
            <a:cxnLst/>
            <a:rect l="l" t="t" r="r" b="b"/>
            <a:pathLst>
              <a:path w="12234265" h="7019409">
                <a:moveTo>
                  <a:pt x="0" y="0"/>
                </a:moveTo>
                <a:lnTo>
                  <a:pt x="12234264" y="0"/>
                </a:lnTo>
                <a:lnTo>
                  <a:pt x="12234264" y="7019410"/>
                </a:lnTo>
                <a:lnTo>
                  <a:pt x="0" y="7019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7349" y="630290"/>
            <a:ext cx="9281107" cy="75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65"/>
              </a:lnSpc>
            </a:pPr>
            <a:r>
              <a:rPr lang="en-US" sz="4733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629741" y="3194621"/>
            <a:ext cx="13028518" cy="3621869"/>
            <a:chOff x="0" y="0"/>
            <a:chExt cx="3431379" cy="9539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31379" cy="953908"/>
            </a:xfrm>
            <a:custGeom>
              <a:avLst/>
              <a:gdLst/>
              <a:ahLst/>
              <a:cxnLst/>
              <a:rect l="l" t="t" r="r" b="b"/>
              <a:pathLst>
                <a:path w="3431379" h="953908">
                  <a:moveTo>
                    <a:pt x="30306" y="0"/>
                  </a:moveTo>
                  <a:lnTo>
                    <a:pt x="3401074" y="0"/>
                  </a:lnTo>
                  <a:cubicBezTo>
                    <a:pt x="3409111" y="0"/>
                    <a:pt x="3416820" y="3193"/>
                    <a:pt x="3422503" y="8876"/>
                  </a:cubicBezTo>
                  <a:cubicBezTo>
                    <a:pt x="3428186" y="14560"/>
                    <a:pt x="3431379" y="22268"/>
                    <a:pt x="3431379" y="30306"/>
                  </a:cubicBezTo>
                  <a:lnTo>
                    <a:pt x="3431379" y="923602"/>
                  </a:lnTo>
                  <a:cubicBezTo>
                    <a:pt x="3431379" y="931640"/>
                    <a:pt x="3428186" y="939348"/>
                    <a:pt x="3422503" y="945032"/>
                  </a:cubicBezTo>
                  <a:cubicBezTo>
                    <a:pt x="3416820" y="950715"/>
                    <a:pt x="3409111" y="953908"/>
                    <a:pt x="3401074" y="953908"/>
                  </a:cubicBezTo>
                  <a:lnTo>
                    <a:pt x="30306" y="953908"/>
                  </a:lnTo>
                  <a:cubicBezTo>
                    <a:pt x="22268" y="953908"/>
                    <a:pt x="14560" y="950715"/>
                    <a:pt x="8876" y="945032"/>
                  </a:cubicBezTo>
                  <a:cubicBezTo>
                    <a:pt x="3193" y="939348"/>
                    <a:pt x="0" y="931640"/>
                    <a:pt x="0" y="923602"/>
                  </a:cubicBezTo>
                  <a:lnTo>
                    <a:pt x="0" y="30306"/>
                  </a:lnTo>
                  <a:cubicBezTo>
                    <a:pt x="0" y="22268"/>
                    <a:pt x="3193" y="14560"/>
                    <a:pt x="8876" y="8876"/>
                  </a:cubicBezTo>
                  <a:cubicBezTo>
                    <a:pt x="14560" y="3193"/>
                    <a:pt x="22268" y="0"/>
                    <a:pt x="3030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431379" cy="9920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78428" y="1528914"/>
            <a:ext cx="8531143" cy="114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92"/>
              </a:lnSpc>
            </a:pPr>
            <a:r>
              <a:rPr lang="en-US" sz="7282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10832" y="3446495"/>
            <a:ext cx="10066336" cy="306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127" lvl="1" indent="-288563" algn="l">
              <a:lnSpc>
                <a:spcPts val="4116"/>
              </a:lnSpc>
              <a:buFont typeface="Arial"/>
              <a:buChar char="•"/>
            </a:pPr>
            <a:r>
              <a:rPr lang="en-US" sz="267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Users can upload notes easily</a:t>
            </a:r>
          </a:p>
          <a:p>
            <a:pPr marL="577127" lvl="1" indent="-288563" algn="l">
              <a:lnSpc>
                <a:spcPts val="4116"/>
              </a:lnSpc>
              <a:buFont typeface="Arial"/>
              <a:buChar char="•"/>
            </a:pPr>
            <a:r>
              <a:rPr lang="en-US" sz="267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System answers questions instantly</a:t>
            </a:r>
          </a:p>
          <a:p>
            <a:pPr marL="577127" lvl="1" indent="-288563" algn="l">
              <a:lnSpc>
                <a:spcPts val="4116"/>
              </a:lnSpc>
              <a:buFont typeface="Arial"/>
              <a:buChar char="•"/>
            </a:pPr>
            <a:r>
              <a:rPr lang="en-US" sz="267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Generates quizzes automatically</a:t>
            </a:r>
          </a:p>
          <a:p>
            <a:pPr marL="577127" lvl="1" indent="-288563" algn="l">
              <a:lnSpc>
                <a:spcPts val="4116"/>
              </a:lnSpc>
              <a:buFont typeface="Arial"/>
              <a:buChar char="•"/>
            </a:pPr>
            <a:r>
              <a:rPr lang="en-US" sz="267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Provides clear explanations</a:t>
            </a:r>
          </a:p>
          <a:p>
            <a:pPr marL="577127" lvl="1" indent="-288563" algn="l">
              <a:lnSpc>
                <a:spcPts val="4116"/>
              </a:lnSpc>
              <a:buFont typeface="Arial"/>
              <a:buChar char="•"/>
            </a:pPr>
            <a:r>
              <a:rPr lang="en-US" sz="267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Improves study efficiency</a:t>
            </a:r>
          </a:p>
          <a:p>
            <a:pPr marL="0" lvl="0" indent="0" algn="l">
              <a:lnSpc>
                <a:spcPts val="4116"/>
              </a:lnSpc>
            </a:pPr>
            <a:endParaRPr lang="en-US" sz="2673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53953" y="3688722"/>
            <a:ext cx="7691481" cy="246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602"/>
              </a:lnSpc>
            </a:pPr>
            <a:r>
              <a:rPr lang="en-US" sz="15516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11259" y="3565296"/>
            <a:ext cx="5029200" cy="212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6611"/>
              </a:lnSpc>
            </a:pPr>
            <a:r>
              <a:rPr lang="en-US" sz="15525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You!</a:t>
            </a:r>
          </a:p>
        </p:txBody>
      </p:sp>
      <p:sp>
        <p:nvSpPr>
          <p:cNvPr id="8" name="Freeform 8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StudyMate AI: RAG Learning Assistant</dc:title>
  <cp:lastModifiedBy>Manjari Kalisetty</cp:lastModifiedBy>
  <cp:revision>2</cp:revision>
  <dcterms:created xsi:type="dcterms:W3CDTF">2006-08-16T00:00:00Z</dcterms:created>
  <dcterms:modified xsi:type="dcterms:W3CDTF">2026-05-04T05:04:32Z</dcterms:modified>
  <dc:identifier>DAHIHDAjjE0</dc:identifier>
</cp:coreProperties>
</file>